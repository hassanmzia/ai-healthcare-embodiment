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Healthcare Interaction Embodiment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6EAF8"/>
                </a:solidFill>
                <a:latin typeface="Calibri"/>
              </a:defRPr>
            </a:pPr>
            <a:r>
              <a:t>Technical Architecture  --  Multi-Agent MS Risk Screening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A8FD6"/>
                </a:solidFill>
                <a:latin typeface="Calibri"/>
              </a:defRPr>
            </a:pPr>
            <a:r>
              <a:t>MCP + A2A  |  Django + React + Docker  |  9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286000" cy="1005840"/>
          </a:xfrm>
          <a:prstGeom prst="roundRect">
            <a:avLst/>
          </a:prstGeom>
          <a:solidFill>
            <a:srgbClr val="3A8FD6"/>
          </a:solidFill>
          <a:ln w="1905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0D2747"/>
                </a:solidFill>
                <a:latin typeface="Calibri"/>
              </a:defRPr>
            </a:pPr>
            <a:r>
              <a:t>Client</a:t>
            </a:r>
            <a:br/>
            <a:r>
              <a:t>(React SPA)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80360" y="1645920"/>
            <a:ext cx="411480" cy="45720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286000" cy="1005840"/>
          </a:xfrm>
          <a:prstGeom prst="roundRect">
            <a:avLst/>
          </a:prstGeom>
          <a:solidFill>
            <a:srgbClr val="1A569E"/>
          </a:solidFill>
          <a:ln w="1905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  <a:br/>
            <a:r>
              <a:t>(Nginx :80)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1645920"/>
            <a:ext cx="411480" cy="45720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286000" cy="1005840"/>
          </a:xfrm>
          <a:prstGeom prst="roundRect">
            <a:avLst/>
          </a:prstGeom>
          <a:solidFill>
            <a:srgbClr val="0D2747"/>
          </a:solidFill>
          <a:ln w="1905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 Services</a:t>
            </a:r>
            <a:br/>
            <a:r>
              <a:t>(Django / Celery)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58200" y="1645920"/>
            <a:ext cx="411480" cy="45720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5400" y="1371600"/>
            <a:ext cx="2286000" cy="1005840"/>
          </a:xfrm>
          <a:prstGeom prst="roundRect">
            <a:avLst/>
          </a:prstGeom>
          <a:solidFill>
            <a:srgbClr val="1A569E"/>
          </a:solidFill>
          <a:ln w="19050">
            <a:solidFill>
              <a:srgbClr val="0D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(Postgres / Redis)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747"/>
                </a:solidFill>
                <a:latin typeface="Calibri"/>
              </a:defRPr>
            </a:pPr>
            <a:r>
              <a:t>9 Docker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web :8000  -  Django ASGI (Daphne)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celery_worker --  -  Async task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9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celery_beat --  -  Periodic task 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461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db :5432  -  PostgreSQL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547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redis :6379  -  Redis 7 cache/broker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49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frontend :3000  -  React dev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461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nginx :80  -  Reverse proxy /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47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mcp_server :8001  -  MCP protocol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96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a2a_gateway :8002  -  A2A protocol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747"/>
                </a:solidFill>
                <a:latin typeface="Calibri"/>
              </a:defRPr>
            </a:pPr>
            <a:r>
              <a:t>Key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Python 3.12 / Django 5 / DRF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76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React 18 / TypeScript / MUI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PostgreSQL 16 / Redis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983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Celery 5 / Daphne / 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276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Docker Compose / Nginx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MCP Protocol / A2A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Multi-Agent Pipeline  --  5 Sequential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9659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A569E"/>
                </a:solidFill>
                <a:latin typeface="Calibri"/>
              </a:defRPr>
            </a:pPr>
            <a:r>
              <a:t>1  RetrievalAgent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4 data gates: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MRI scans, clinical notes,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symptoms, visit history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50008" y="1874520"/>
            <a:ext cx="274320" cy="36576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1760" y="1234440"/>
            <a:ext cx="19659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A569E"/>
                </a:solidFill>
                <a:latin typeface="Calibri"/>
              </a:defRPr>
            </a:pPr>
            <a:r>
              <a:t>2  PhenotypingAgentV2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Weighted risk scoring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Output: 0.0 - 1.0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Evidence-based weights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36008" y="1874520"/>
            <a:ext cx="274320" cy="36576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60" y="1234440"/>
            <a:ext cx="19659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A569E"/>
                </a:solidFill>
                <a:latin typeface="Calibri"/>
              </a:defRPr>
            </a:pPr>
            <a:r>
              <a:t>3  NotesImagingAgent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NLP term extraction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MS terms vs non-MS terms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Imaging pattern analysis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22008" y="1874520"/>
            <a:ext cx="274320" cy="36576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1234440"/>
            <a:ext cx="19659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A569E"/>
                </a:solidFill>
                <a:latin typeface="Calibri"/>
              </a:defRPr>
            </a:pPr>
            <a:r>
              <a:t>4  SafetyGovernanceAgent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4 safety flags: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PHI, low evidence,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minor patient, contradiction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08008" y="1874520"/>
            <a:ext cx="274320" cy="365760"/>
          </a:xfrm>
          <a:prstGeom prst="rightArrow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1234440"/>
            <a:ext cx="19659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200" b="1">
                <a:solidFill>
                  <a:srgbClr val="1A569E"/>
                </a:solidFill>
                <a:latin typeface="Calibri"/>
              </a:defRPr>
            </a:pPr>
            <a:r>
              <a:t>5  Coordinator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Action decision engine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Rate limiting enforcement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Autonomy level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747"/>
                </a:solidFill>
                <a:latin typeface="Calibri"/>
              </a:defRPr>
            </a:pPr>
            <a:r>
              <a:t>Action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25603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NO_ACTION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657600"/>
            <a:ext cx="256032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RECOMMEND_NEURO_REVIEW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25603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DRAFT_MRI_ORDER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657600"/>
            <a:ext cx="25603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AUTO_ORDER_MRI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747"/>
                </a:solidFill>
                <a:latin typeface="Calibri"/>
              </a:defRPr>
            </a:pPr>
            <a:r>
              <a:t>Autonomy 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9160"/>
            <a:ext cx="34747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RECOMMEND_ONLY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39" y="4709160"/>
            <a:ext cx="347472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DRAFT_ORDER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8" y="4709160"/>
            <a:ext cx="34747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AUTO_ORDER_WITH_GUARDRAILS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747"/>
                </a:solidFill>
                <a:latin typeface="Calibri"/>
              </a:defRPr>
            </a:pPr>
            <a:r>
              <a:t>Policy Thresholds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3474720" cy="457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Score &gt;= 0.65  -&gt;  Neuro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5760720"/>
            <a:ext cx="3474720" cy="457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Score &gt;= 0.80  -&gt;  Draft MRI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8" y="5760720"/>
            <a:ext cx="3474720" cy="457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Score &gt;= 0.90  -&gt;  Auto Order MRI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Protocol Services  --  MCP + A2A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1A569E"/>
                </a:solidFill>
              </a:defRPr>
            </a:pPr>
            <a:r>
              <a:t>MCP Server  (:8001)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D2747"/>
                </a:solidFill>
                <a:latin typeface="Calibri"/>
              </a:defRPr>
            </a:pPr>
            <a:r>
              <a:t>8 Tools Exposed: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screen_patient  -  Run full MS screening pipeline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get_risk_assessment  -  Retrieve risk score details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list_patients  -  Query patient registry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get_patient_detail  -  Full patient record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get_policy_configuration  -  Current policy settings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get_governance_rules  -  Active governance rules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get_fairness_analysis  -  Demographic bias metrics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get_audit_logs  -  Action audit trail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D2747"/>
                </a:solidFill>
                <a:latin typeface="Calibri"/>
              </a:defRPr>
            </a:pPr>
            <a:r>
              <a:t>5 Resources Published: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patient://  -  Patient demographics &amp; history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risk://  -  Risk assessment results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policy://  -  Policy configuration state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governance://  -  Governance rules &amp; flags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audit://  -  Audit log entries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1A569E"/>
                </a:solidFill>
              </a:defRPr>
            </a:pPr>
            <a:r>
              <a:t>A2A Gateway  (:8002)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D2747"/>
                </a:solidFill>
                <a:latin typeface="Calibri"/>
              </a:defRPr>
            </a:pPr>
            <a:r>
              <a:t>5 Registered Agents: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RetrievalAgent  -  Data retrieval &amp; gating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PhenotypingAgentV2  -  Risk phenotyping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NotesImagingAgent  -  NLP extraction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SafetyGovernanceAgent  -  Safety enforcement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Coordinator  -  Orchestration &amp; decisions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D2747"/>
                </a:solidFill>
                <a:latin typeface="Calibri"/>
              </a:defRPr>
            </a:pPr>
            <a:r>
              <a:t>Task Lifecycle: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SUBMITTED  -&gt;  Task received by gateway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IN_PROGRESS  -&gt;  Agent(s) processing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COMPLETED  -&gt;  Results returned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FAILED  -&gt;  Error handling &amp; retry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D2747"/>
                </a:solidFill>
                <a:latin typeface="Calibri"/>
              </a:defRPr>
            </a:pPr>
            <a:r>
              <a:t>External AI Integration: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JSON-RPC 2.0 transport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Agent Card discovery endpoint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Streaming partial results support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 Cross-system agent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Model  --  Core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Patient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30+ fields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Demographics, contact info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Symptom flags (fatigue, numbness, ...)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Lab markers (WBC, CRP, vitamin 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MRI data, visit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RiskAssessment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Scoring &amp; Review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risk_score (0.0 - 1.0)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confidence_score, evidence_summary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recommended_action, autonomy_level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human review status &amp;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WorkflowRun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Execution Tracking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status: pending/running/completed/failed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duration_ms, agent step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patients_processed / flagged counts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trigger_type, triggered_by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188720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PolicyConfiguration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Thresholds &amp; Limits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review / draft / auto thresholds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rate_limit_max_auto_orders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rate_limit_window_hours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is_active, effective 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49039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AuditLog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Action Trail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action type, actor, timestamp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target entity reference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metadata JSON payload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IP address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749039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Notification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Alerts &amp; Messages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notification_type, severity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title, message body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is_read status, metadata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linked patient /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749039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GovernanceRule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Safety Rules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rule_type, condition logic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action_on_trigger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severity level, is_active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description &amp; rationale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749039"/>
            <a:ext cx="2651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ComplianceReport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Reporting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report_type, period range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generated content (JSON)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status: draft / final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generated_by user 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Frontend Application  --  React + TypeScript + Material-UI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0292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1A569E"/>
                </a:solidFill>
                <a:latin typeface="Calibri"/>
              </a:defRPr>
            </a:pPr>
            <a:r>
              <a:t>React 18  |  TypeScript  |  Material-UI 5  |  React Router  |  Axios  |  Recharts  |  WebSocket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659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Overview metrics, active workflows, recent 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Patients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76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Searchable patient registry with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77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Patient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877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Full demographics, symptoms, labs, MRI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8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Risk Assessments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986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All screening results with score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95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Risk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095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Individual assessment with interpretability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20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Workflow execution history and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313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Workflow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313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Step-by-step agent execution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Policy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659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Threshold and rate limit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768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Governance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276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Safety rule definitions and activation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877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Fairness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877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Demographic bias metrics and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98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What-If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8986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Interactive scenario modeling with sliders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095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2095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Alert center with filtering and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204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9E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520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Report generation and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747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37760"/>
            <a:ext cx="2651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1A569E"/>
                </a:solidFill>
                <a:latin typeface="Calibri"/>
              </a:defRPr>
            </a:pPr>
            <a:r>
              <a:t>Real-time Updates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WebSocket notifications &amp; live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937760"/>
            <a:ext cx="2651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1A569E"/>
                </a:solidFill>
                <a:latin typeface="Calibri"/>
              </a:defRPr>
            </a:pPr>
            <a:r>
              <a:t>Interactive Charts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Risk distributions, fairness visualizations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937760"/>
            <a:ext cx="2651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1A569E"/>
                </a:solidFill>
                <a:latin typeface="Calibri"/>
              </a:defRPr>
            </a:pPr>
            <a:r>
              <a:t>What-If Modeling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Adjust parameters and preview outcomes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4937760"/>
            <a:ext cx="2651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1A569E"/>
                </a:solidFill>
                <a:latin typeface="Calibri"/>
              </a:defRPr>
            </a:pPr>
            <a:r>
              <a:t>Responsive Design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Mobile-friendly Material-UI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949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Docker Compose  -  9 Services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Single docker-compose.yml orchestration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Service dependency ordering with depends_on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Health checks on all critical services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Volume mounts for persistent 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Environment-based configuration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Network isolation between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34440"/>
            <a:ext cx="53949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Data Layer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PostgreSQL 16 (primary database)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Redis 7 (cache + Celery broker)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Django ORM with migrations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Connection pooling &amp; health checks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Persistent Docker volumes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Automated backup-ready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86200"/>
            <a:ext cx="53949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Async Processing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Celery Worker for task execution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Celery Beat for periodic scheduling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Redis as message broker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Screening workflow task queue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Notification delivery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Retry logic with exponential backoff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86200"/>
            <a:ext cx="53949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Web Server Stack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Daphne ASGI server (HTTP + WS)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Django Channels for WebSocket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Nginx reverse proxy (port 80)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Static file serving via Nginx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CORS configuration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Request rate limiting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Governance &amp; Safety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A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35661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Safety Flags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PHI_DETECTED  -  Protected health info exposure risk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LOW_EVIDENCE  -  Insufficient data for confident scoring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MINOR_PATIENT  -  Patient under 18, extra safeguards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CONTRADICTION  -  Conflicting clinical indicators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Rate Limiting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Configurable max auto-orders per window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Default: 10 auto-orders per 24-hour window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Per-policy rate limit configuration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Automatic fallback to DRAFT when limit reached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234440"/>
            <a:ext cx="35661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Safety Override Logic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Any safety flag -&gt; autonomy downgraded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AUTO_ORDER demoted to DRAFT_ORDER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DRAFT_ORDER demoted to RECOMMEND_ONLY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Override reason logged in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49040"/>
            <a:ext cx="35661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2747"/>
                </a:solidFill>
                <a:latin typeface="Calibri"/>
              </a:defRPr>
            </a:pPr>
            <a:r>
              <a:t>Audit Trail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Every action logged with actor &amp; timestamp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Target entity tracking (patient, assessment)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Full metadata JSON payload captured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IP address and session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749040"/>
            <a:ext cx="35661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Fairness Analysis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Demographic group comparisons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Score distribution by age, gender, ethnicity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Bias detection metrics and alerts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Visual equity dashboards in 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3749040"/>
            <a:ext cx="35661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1A569E"/>
                </a:solidFill>
                <a:latin typeface="Calibri"/>
              </a:defRPr>
            </a:pPr>
            <a:r>
              <a:t>Compliance Reporting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Automated report generation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Period-based analysis (weekly, monthly)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Export to JSON format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Draft/final workflow with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